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06832045-edea-a594-67a9-c5c58ca208f4}">
          <p14:sldIdLst>
            <p14:sldId id="256"/>
          </p14:sldIdLst>
        </p14:section>
        <p14:section name="Idee" id="{50d000e9-6cf5-e3d7-5567-7a3a58dbe32d}">
          <p14:sldIdLst>
            <p14:sldId id="257"/>
            <p14:sldId id="258"/>
          </p14:sldIdLst>
        </p14:section>
        <p14:section name="User Stories" id="{ac951884-9f2a-7307-4faf-7449d3da6e85}">
          <p14:sldIdLst>
            <p14:sldId id="259"/>
            <p14:sldId id="260"/>
            <p14:sldId id="261"/>
          </p14:sldIdLst>
        </p14:section>
        <p14:section name="Umsetzung" id="{d248b0ff-d1dd-6524-a201-df8c6f81c011}">
          <p14:sldIdLst>
            <p14:sldId id="262"/>
            <p14:sldId id="263"/>
          </p14:sldIdLst>
        </p14:section>
        <p14:section name="Abschluss" id="{fef373b8-4924-afc2-d86e-103d395980e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REAP ist unsere Produktidee: eine App, die Tischreservierung, Vorbestellung und Bezahlung in einem Ablauf verbindet – für Gäste und für Restaurantbesitzer.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Gäste verlieren Zeit an drei Stellen: beim Reservieren, beim Warten aufs Essen und beim Bezahlen. Restaurants haben das Gegenstück: viele Anrufe und wenig Planbarkeit.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Kern von REAP ist ein durchgehender Ablauf. Die App hat zwei Seiten: die Gäste-App und einen Bereich für Restaurantbesitzer, die ihr Angebot selbst pflegen.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wichtigste Kunden-Story: Reservieren ohne Anruf. Der Gast wählt Datum, Uhrzeit und Personen; die App zeigt nur, was das Restaurant wirklich frei hat. Am Ende gibt es einen QR-Code.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unser Alleinstellungsmerkmal: Reservierung und Bestellung hängen zusammen. Das Essen kann vorbereitet werden, wenn der Gast kommt. Bezahlt wird gleich mit (Story K-04).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Ohne Speisekarte keine Vorbestellung: Der Besitzer pflegt sein Angebot selbst im Besitzer-Bereich, zusammen mit Plätzen, Öffnungszeiten und Verfügbarkeiten.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der komplette Gäste-Ablauf aus unseren Mockups. Zusätzlich gibt es einen klickbaren HTML-Prototyp, in dem man als Kunde reservieren, vorbestellen und bezahlen kann und als Besitzer das Restaurant verwaltet.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Technisch: Flutter-App, die über eine REST API mit einem Spring-Boot-Backend spricht; Daten liegen vorerst in H2. Umgesetzt wird in der Reihenfolge unseres Product Backlogs – erst das Fundament für Restaurants, dann der Gäste-Ablauf, danach die Should- und Could-Stories.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Zusammengefasst: REAP verbindet Reservieren, Bestellen und Bezahlen in einer App. Danke fürs Zuhören – gibt es Fragen?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P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P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</a:rPr>
              <a:t>REAP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P_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accent1"/>
                </a:solidFill>
              </a:rPr>
              <a:t>REAP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PRODUKTIDEE · TEAM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REAP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8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Reservieren. Bestellen. Genießen.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77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C6BD"/>
                </a:solidFill>
              </a:rPr>
              <a:t>Die App, mit der Gäste einen Tisch reservieren, ihr Essen vorbestellen und im Voraus bezahlen – und Restaurants ihren Betrieb einfach planen.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A8F"/>
                </a:solidFill>
              </a:rPr>
              <a:t>Wernig · Schieder · Ranninger</a:t>
            </a:r>
            <a:endParaRPr lang="en-US" sz="1400" dirty="0"/>
          </a:p>
        </p:txBody>
      </p:sp>
      <p:pic>
        <p:nvPicPr>
          <p:cNvPr id="7" name="phone_details" descr="/home/claude/deck/img/r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777240"/>
            <a:ext cx="2482047" cy="53035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pic>
        <p:nvPicPr>
          <p:cNvPr id="8" name="phone_auswahl" descr="/home/claude/deck/img/r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234440"/>
            <a:ext cx="2482047" cy="53035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DAS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 gehen heißt oft: warten</a:t>
            </a:r>
            <a:endParaRPr lang="en-US" sz="3600" dirty="0"/>
          </a:p>
        </p:txBody>
      </p:sp>
      <p:sp>
        <p:nvSpPr>
          <p:cNvPr id="4" name="prob_card_0"/>
          <p:cNvSpPr/>
          <p:nvPr/>
        </p:nvSpPr>
        <p:spPr>
          <a:xfrm>
            <a:off x="548640" y="1828800"/>
            <a:ext cx="3474720" cy="2834640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</p:spPr>
      </p:sp>
      <p:sp>
        <p:nvSpPr>
          <p:cNvPr id="5" name="prob_0_circle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rob_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Warten am Telefon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Reservieren geht oft nur per Anruf – und nur, wenn gerade jemand abhebt.</a:t>
            </a:r>
            <a:endParaRPr lang="en-US" sz="1500" dirty="0"/>
          </a:p>
        </p:txBody>
      </p:sp>
      <p:sp>
        <p:nvSpPr>
          <p:cNvPr id="9" name="prob_card_1"/>
          <p:cNvSpPr/>
          <p:nvPr/>
        </p:nvSpPr>
        <p:spPr>
          <a:xfrm>
            <a:off x="4297680" y="1828800"/>
            <a:ext cx="3474720" cy="2834640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</p:spPr>
      </p:sp>
      <p:sp>
        <p:nvSpPr>
          <p:cNvPr id="10" name="prob_1_circle"/>
          <p:cNvSpPr/>
          <p:nvPr/>
        </p:nvSpPr>
        <p:spPr>
          <a:xfrm>
            <a:off x="461772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prob_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Warten aufs Essen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Bestellen, zubereiten, servieren: Besonders in der Mittagspause fehlt die Zeit.</a:t>
            </a:r>
            <a:endParaRPr lang="en-US" sz="1500" dirty="0"/>
          </a:p>
        </p:txBody>
      </p:sp>
      <p:sp>
        <p:nvSpPr>
          <p:cNvPr id="14" name="prob_card_2"/>
          <p:cNvSpPr/>
          <p:nvPr/>
        </p:nvSpPr>
        <p:spPr>
          <a:xfrm>
            <a:off x="8046720" y="1828800"/>
            <a:ext cx="3474720" cy="2834640"/>
          </a:xfrm>
          <a:prstGeom prst="roundRect">
            <a:avLst>
              <a:gd name="adj" fmla="val 4839"/>
            </a:avLst>
          </a:prstGeom>
          <a:solidFill>
            <a:schemeClr val="bg2"/>
          </a:solidFill>
          <a:ln/>
        </p:spPr>
      </p:sp>
      <p:sp>
        <p:nvSpPr>
          <p:cNvPr id="15" name="prob_2_circle"/>
          <p:cNvSpPr/>
          <p:nvPr/>
        </p:nvSpPr>
        <p:spPr>
          <a:xfrm>
            <a:off x="83667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rob_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31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Warten auf die Rechnung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56616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Am Ende dauert auch das Bezahlen – Kellner suchen, Karte, Trinkgeld.</a:t>
            </a:r>
            <a:endParaRPr lang="en-US" sz="1500" dirty="0"/>
          </a:p>
        </p:txBody>
      </p:sp>
      <p:sp>
        <p:nvSpPr>
          <p:cNvPr id="19" name="owner_problem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/>
        </p:spPr>
      </p:sp>
      <p:sp>
        <p:nvSpPr>
          <p:cNvPr id="20" name="owner_p_circle"/>
          <p:cNvSpPr/>
          <p:nvPr/>
        </p:nvSpPr>
        <p:spPr>
          <a:xfrm>
            <a:off x="822960" y="516636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owner_p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53378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37360" y="51206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Und die Restaurants? </a:t>
            </a:r>
            <a:pPr indent="0" marL="0">
              <a:buNone/>
            </a:pPr>
            <a:r>
              <a:rPr lang="en-US" sz="1700" dirty="0">
                <a:solidFill>
                  <a:srgbClr val="E8DED4"/>
                </a:solidFill>
              </a:rPr>
              <a:t>Ständige Anrufe, schwer planbare Auslastung und keine Ahnung, was die Gäste bestellen werden.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UNSERE LÖSUNG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Ablauf statt fünf Wartezeiten</a:t>
            </a:r>
            <a:endParaRPr lang="en-US" sz="3600" dirty="0"/>
          </a:p>
        </p:txBody>
      </p:sp>
      <p:sp>
        <p:nvSpPr>
          <p:cNvPr id="4" name="step_0_circle"/>
          <p:cNvSpPr/>
          <p:nvPr/>
        </p:nvSpPr>
        <p:spPr>
          <a:xfrm>
            <a:off x="1143000" y="178308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step_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20002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1. Restaurant wählen</a:t>
            </a:r>
            <a:endParaRPr lang="en-US" sz="1500" dirty="0"/>
          </a:p>
        </p:txBody>
      </p:sp>
      <p:sp>
        <p:nvSpPr>
          <p:cNvPr id="7" name="arrow_0"/>
          <p:cNvSpPr/>
          <p:nvPr/>
        </p:nvSpPr>
        <p:spPr>
          <a:xfrm>
            <a:off x="2148840" y="2217420"/>
            <a:ext cx="1188720" cy="0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  <a:tailEnd type="triangle"/>
          </a:ln>
        </p:spPr>
      </p:sp>
      <p:sp>
        <p:nvSpPr>
          <p:cNvPr id="8" name="step_1_circle"/>
          <p:cNvSpPr/>
          <p:nvPr/>
        </p:nvSpPr>
        <p:spPr>
          <a:xfrm>
            <a:off x="3429000" y="178308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9" name="step_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170" y="2000250"/>
            <a:ext cx="434340" cy="4343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2. Tisch reservieren</a:t>
            </a:r>
            <a:endParaRPr lang="en-US" sz="1500" dirty="0"/>
          </a:p>
        </p:txBody>
      </p:sp>
      <p:sp>
        <p:nvSpPr>
          <p:cNvPr id="11" name="arrow_1"/>
          <p:cNvSpPr/>
          <p:nvPr/>
        </p:nvSpPr>
        <p:spPr>
          <a:xfrm>
            <a:off x="4434840" y="2217420"/>
            <a:ext cx="1188720" cy="0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  <a:tailEnd type="triangle"/>
          </a:ln>
        </p:spPr>
      </p:sp>
      <p:sp>
        <p:nvSpPr>
          <p:cNvPr id="12" name="step_2_circle"/>
          <p:cNvSpPr/>
          <p:nvPr/>
        </p:nvSpPr>
        <p:spPr>
          <a:xfrm>
            <a:off x="5715000" y="178308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3" name="step_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2000250"/>
            <a:ext cx="434340" cy="4343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206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3. Essen vorbestellen</a:t>
            </a:r>
            <a:endParaRPr lang="en-US" sz="1500" dirty="0"/>
          </a:p>
        </p:txBody>
      </p:sp>
      <p:sp>
        <p:nvSpPr>
          <p:cNvPr id="15" name="arrow_2"/>
          <p:cNvSpPr/>
          <p:nvPr/>
        </p:nvSpPr>
        <p:spPr>
          <a:xfrm>
            <a:off x="6720840" y="2217420"/>
            <a:ext cx="1188720" cy="0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  <a:tailEnd type="triangle"/>
          </a:ln>
        </p:spPr>
      </p:sp>
      <p:sp>
        <p:nvSpPr>
          <p:cNvPr id="16" name="step_3_circle"/>
          <p:cNvSpPr/>
          <p:nvPr/>
        </p:nvSpPr>
        <p:spPr>
          <a:xfrm>
            <a:off x="8001000" y="1783080"/>
            <a:ext cx="868680" cy="8686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step_3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170" y="200025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066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4. Im Voraus zahlen</a:t>
            </a:r>
            <a:endParaRPr lang="en-US" sz="1500" dirty="0"/>
          </a:p>
        </p:txBody>
      </p:sp>
      <p:sp>
        <p:nvSpPr>
          <p:cNvPr id="19" name="arrow_3"/>
          <p:cNvSpPr/>
          <p:nvPr/>
        </p:nvSpPr>
        <p:spPr>
          <a:xfrm>
            <a:off x="9006840" y="2217420"/>
            <a:ext cx="1188720" cy="0"/>
          </a:xfrm>
          <a:prstGeom prst="line">
            <a:avLst/>
          </a:prstGeom>
          <a:noFill/>
          <a:ln w="25400">
            <a:solidFill>
              <a:srgbClr val="E8DED4"/>
            </a:solidFill>
            <a:prstDash val="solid"/>
            <a:tailEnd type="triangle"/>
          </a:ln>
        </p:spPr>
      </p:sp>
      <p:sp>
        <p:nvSpPr>
          <p:cNvPr id="20" name="step_4_circle"/>
          <p:cNvSpPr/>
          <p:nvPr/>
        </p:nvSpPr>
        <p:spPr>
          <a:xfrm>
            <a:off x="10287000" y="17830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step_4_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170" y="2000250"/>
            <a:ext cx="434340" cy="4343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926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5. QR-Code vorzeigen</a:t>
            </a:r>
            <a:endParaRPr lang="en-US" sz="1500" dirty="0"/>
          </a:p>
        </p:txBody>
      </p:sp>
      <p:sp>
        <p:nvSpPr>
          <p:cNvPr id="23" name="kunde_card"/>
          <p:cNvSpPr/>
          <p:nvPr/>
        </p:nvSpPr>
        <p:spPr>
          <a:xfrm>
            <a:off x="548640" y="3520440"/>
            <a:ext cx="5440680" cy="25603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4" name="besitzer_card"/>
          <p:cNvSpPr/>
          <p:nvPr/>
        </p:nvSpPr>
        <p:spPr>
          <a:xfrm>
            <a:off x="6172200" y="3520440"/>
            <a:ext cx="5440680" cy="25603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/>
        </p:spPr>
      </p:sp>
      <p:sp>
        <p:nvSpPr>
          <p:cNvPr id="25" name="kunde_circle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kunde_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886200"/>
            <a:ext cx="274320" cy="274320"/>
          </a:xfrm>
          <a:prstGeom prst="rect">
            <a:avLst/>
          </a:prstGeom>
        </p:spPr>
      </p:pic>
      <p:sp>
        <p:nvSpPr>
          <p:cNvPr id="27" name="besitzer_circle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besitzer_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88620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55448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Gäste</a:t>
            </a:r>
            <a:endParaRPr lang="en-US" sz="2000" dirty="0"/>
          </a:p>
        </p:txBody>
      </p:sp>
      <p:sp>
        <p:nvSpPr>
          <p:cNvPr id="30" name="Text 21"/>
          <p:cNvSpPr txBox="1"/>
          <p:nvPr/>
        </p:nvSpPr>
        <p:spPr>
          <a:xfrm>
            <a:off x="717804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Für Restaurantbesitzer</a:t>
            </a:r>
            <a:endParaRPr lang="en-US" sz="2000" dirty="0"/>
          </a:p>
        </p:txBody>
      </p:sp>
      <p:sp>
        <p:nvSpPr>
          <p:cNvPr id="31" name="Text 22"/>
          <p:cNvSpPr txBox="1"/>
          <p:nvPr/>
        </p:nvSpPr>
        <p:spPr>
          <a:xfrm>
            <a:off x="86868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Freie Tische sehen und sofort reservieren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Vorbestellen, bezahlen, Trinkgeld geben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Stornieren, bewerten, Restaurant kontaktieren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649224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Restaurant anmelden, Plätze und Öffnungszeiten festlegen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Speisekarte mit Preisen pflegen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accent6"/>
                </a:solidFill>
              </a:rPr>
              <a:t>Verfügbarkeiten steuern, Bestellungen im Blick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USER STORY 1 · K-01 · MUST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Tisch reservieren in drei Klicks</a:t>
            </a:r>
            <a:endParaRPr lang="en-US" sz="3600" dirty="0"/>
          </a:p>
        </p:txBody>
      </p:sp>
      <p:sp>
        <p:nvSpPr>
          <p:cNvPr id="4" name="story_card"/>
          <p:cNvSpPr/>
          <p:nvPr/>
        </p:nvSpPr>
        <p:spPr>
          <a:xfrm>
            <a:off x="548640" y="1783080"/>
            <a:ext cx="59436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Kunde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möchte ich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Datum, Uhrzeit und Personenanzahl auswählen,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damit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einen Tisch reservieren kann.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Akzeptanzkriterien</a:t>
            </a:r>
            <a:endParaRPr lang="en-US" sz="1600" dirty="0"/>
          </a:p>
        </p:txBody>
      </p:sp>
      <p:pic>
        <p:nvPicPr>
          <p:cNvPr id="7" name="check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6177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Nur freie Zeiten und Plätze sind wählbar</a:t>
            </a:r>
            <a:endParaRPr lang="en-US" sz="1500" dirty="0"/>
          </a:p>
        </p:txBody>
      </p:sp>
      <p:pic>
        <p:nvPicPr>
          <p:cNvPr id="9" name="check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50749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Besondere Wünsche optional (z. B. Fensterplatz)</a:t>
            </a:r>
            <a:endParaRPr lang="en-US" sz="1500" dirty="0"/>
          </a:p>
        </p:txBody>
      </p:sp>
      <p:pic>
        <p:nvPicPr>
          <p:cNvPr id="11" name="check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9612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55321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Bestätigung mit QR-Code, später stornierbar</a:t>
            </a:r>
            <a:endParaRPr lang="en-US" sz="1500" dirty="0"/>
          </a:p>
        </p:txBody>
      </p:sp>
      <p:pic>
        <p:nvPicPr>
          <p:cNvPr id="13" name="phone_5" descr="/home/claude/deck/img/r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926" y="1554480"/>
            <a:ext cx="2182490" cy="4663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pic>
        <p:nvPicPr>
          <p:cNvPr id="14" name="phone_10" descr="/home/claude/deck/img/r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1554480"/>
            <a:ext cx="2182490" cy="4663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USER STORY 2 · K-02 · MUST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Vorbestellen statt warten</a:t>
            </a:r>
            <a:endParaRPr lang="en-US" sz="3600" dirty="0"/>
          </a:p>
        </p:txBody>
      </p:sp>
      <p:sp>
        <p:nvSpPr>
          <p:cNvPr id="4" name="story_card"/>
          <p:cNvSpPr/>
          <p:nvPr/>
        </p:nvSpPr>
        <p:spPr>
          <a:xfrm>
            <a:off x="5669280" y="1783080"/>
            <a:ext cx="59436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89320" y="19659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Kunde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möchte ich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 Essen schon vorab bestellen,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damit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ich im Restaurant nicht lange warten muss.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Akzeptanzkriterien</a:t>
            </a:r>
            <a:endParaRPr lang="en-US" sz="1600" dirty="0"/>
          </a:p>
        </p:txBody>
      </p:sp>
      <p:pic>
        <p:nvPicPr>
          <p:cNvPr id="7" name="check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4681728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080760" y="46177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Speisekarte nach Kategorien mit Preisen</a:t>
            </a:r>
            <a:endParaRPr lang="en-US" sz="1500" dirty="0"/>
          </a:p>
        </p:txBody>
      </p:sp>
      <p:pic>
        <p:nvPicPr>
          <p:cNvPr id="9" name="check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3892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80760" y="50749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Menge anpassen, Summe wird sofort berechnet</a:t>
            </a:r>
            <a:endParaRPr lang="en-US" sz="1500" dirty="0"/>
          </a:p>
        </p:txBody>
      </p:sp>
      <p:pic>
        <p:nvPicPr>
          <p:cNvPr id="11" name="check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559612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80760" y="55321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Bezahlung im Voraus per Karte, PayPal, Apple Pay</a:t>
            </a:r>
            <a:endParaRPr lang="en-US" sz="1500" dirty="0"/>
          </a:p>
        </p:txBody>
      </p:sp>
      <p:pic>
        <p:nvPicPr>
          <p:cNvPr id="13" name="phone_6" descr="/home/claude/deck/img/r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" y="1554480"/>
            <a:ext cx="2182490" cy="4663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pic>
        <p:nvPicPr>
          <p:cNvPr id="14" name="phone_7" descr="/home/claude/deck/img/r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660" y="1554480"/>
            <a:ext cx="2182490" cy="4663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USER STORY 3 · B-03 · MUST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Speisekarte selbst pflegen</a:t>
            </a:r>
            <a:endParaRPr lang="en-US" sz="3600" dirty="0"/>
          </a:p>
        </p:txBody>
      </p:sp>
      <p:sp>
        <p:nvSpPr>
          <p:cNvPr id="4" name="story_card"/>
          <p:cNvSpPr/>
          <p:nvPr/>
        </p:nvSpPr>
        <p:spPr>
          <a:xfrm>
            <a:off x="548640" y="1783080"/>
            <a:ext cx="59436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Restaurantbesitzer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möchte ich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Speisekarte mit Preisen eintragen und ändern,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damit </a:t>
            </a:r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Gäste sehen, was angeboten wird.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Akzeptanzkriterien</a:t>
            </a:r>
            <a:endParaRPr lang="en-US" sz="1600" dirty="0"/>
          </a:p>
        </p:txBody>
      </p:sp>
      <p:pic>
        <p:nvPicPr>
          <p:cNvPr id="7" name="check_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6177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Gerichte anlegen, bearbeiten und entfernen</a:t>
            </a:r>
            <a:endParaRPr lang="en-US" sz="1500" dirty="0"/>
          </a:p>
        </p:txBody>
      </p:sp>
      <p:pic>
        <p:nvPicPr>
          <p:cNvPr id="9" name="check_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50749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Preise in Euro, nach Kategorien sortiert</a:t>
            </a:r>
            <a:endParaRPr lang="en-US" sz="1500" dirty="0"/>
          </a:p>
        </p:txBody>
      </p:sp>
      <p:pic>
        <p:nvPicPr>
          <p:cNvPr id="11" name="check_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96128"/>
            <a:ext cx="246888" cy="24688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553212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Änderungen sind sofort in der Gäste-App sichtbar</a:t>
            </a:r>
            <a:endParaRPr lang="en-US" sz="1500" dirty="0"/>
          </a:p>
        </p:txBody>
      </p:sp>
      <p:pic>
        <p:nvPicPr>
          <p:cNvPr id="13" name="phone_12" descr="/home/claude/deck/img/r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191" y="1554480"/>
            <a:ext cx="2182490" cy="4663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PROTOTYP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sieht REAP aus</a:t>
            </a:r>
            <a:endParaRPr lang="en-US" sz="3600" dirty="0"/>
          </a:p>
        </p:txBody>
      </p:sp>
      <p:pic>
        <p:nvPicPr>
          <p:cNvPr id="4" name="proto_3" descr="/home/claude/deck/img/r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Auswahl</a:t>
            </a:r>
            <a:endParaRPr lang="en-US" sz="1400" dirty="0"/>
          </a:p>
        </p:txBody>
      </p:sp>
      <p:pic>
        <p:nvPicPr>
          <p:cNvPr id="6" name="proto_4" descr="/home/claude/deck/img/r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578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410578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Details</a:t>
            </a:r>
            <a:endParaRPr lang="en-US" sz="1400" dirty="0"/>
          </a:p>
        </p:txBody>
      </p:sp>
      <p:pic>
        <p:nvPicPr>
          <p:cNvPr id="8" name="proto_5" descr="/home/claude/deck/img/r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516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4272516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Reservierung</a:t>
            </a:r>
            <a:endParaRPr lang="en-US" sz="1400" dirty="0"/>
          </a:p>
        </p:txBody>
      </p:sp>
      <p:pic>
        <p:nvPicPr>
          <p:cNvPr id="10" name="proto_6" descr="/home/claude/deck/img/r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454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6134454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Vorbestellen</a:t>
            </a:r>
            <a:endParaRPr lang="en-US" sz="1400" dirty="0"/>
          </a:p>
        </p:txBody>
      </p:sp>
      <p:pic>
        <p:nvPicPr>
          <p:cNvPr id="12" name="proto_7" descr="/home/claude/deck/img/r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6391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7996391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Zahlung</a:t>
            </a:r>
            <a:endParaRPr lang="en-US" sz="1400" dirty="0"/>
          </a:p>
        </p:txBody>
      </p:sp>
      <p:pic>
        <p:nvPicPr>
          <p:cNvPr id="14" name="proto_8" descr="/home/claude/deck/img/r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29" y="1691640"/>
            <a:ext cx="1754551" cy="37490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  <p:sp>
        <p:nvSpPr>
          <p:cNvPr id="15" name="Text 7"/>
          <p:cNvSpPr txBox="1"/>
          <p:nvPr/>
        </p:nvSpPr>
        <p:spPr>
          <a:xfrm>
            <a:off x="9858329" y="5532120"/>
            <a:ext cx="1754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Bestätigung</a:t>
            </a:r>
            <a:endParaRPr lang="en-US" sz="1400" dirty="0"/>
          </a:p>
        </p:txBody>
      </p:sp>
      <p:sp>
        <p:nvSpPr>
          <p:cNvPr id="16" name="Text 8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12 Mockup-Screens + klickbarer HTML-Prototyp mit Gäste- und Besitzer-Ablauf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TECHNIK &amp; NÄCHSTE SCHRITTE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Prototyp zur echten App</a:t>
            </a:r>
            <a:endParaRPr lang="en-US" sz="3600" dirty="0"/>
          </a:p>
        </p:txBody>
      </p:sp>
      <p:sp>
        <p:nvSpPr>
          <p:cNvPr id="4" name="arch_0"/>
          <p:cNvSpPr/>
          <p:nvPr/>
        </p:nvSpPr>
        <p:spPr>
          <a:xfrm>
            <a:off x="548640" y="1783080"/>
            <a:ext cx="246888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5" name="arch_i0_circle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rch_i0_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1831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Flutter-App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Dart</a:t>
            </a:r>
            <a:endParaRPr lang="en-US" sz="1400" dirty="0"/>
          </a:p>
        </p:txBody>
      </p:sp>
      <p:sp>
        <p:nvSpPr>
          <p:cNvPr id="9" name="arch_arrow_0"/>
          <p:cNvSpPr/>
          <p:nvPr/>
        </p:nvSpPr>
        <p:spPr>
          <a:xfrm>
            <a:off x="3063240" y="2514600"/>
            <a:ext cx="274320" cy="0"/>
          </a:xfrm>
          <a:prstGeom prst="line">
            <a:avLst/>
          </a:prstGeom>
          <a:noFill/>
          <a:ln w="25400">
            <a:solidFill>
              <a:srgbClr val="7A726A"/>
            </a:solidFill>
            <a:prstDash val="solid"/>
            <a:tailEnd type="triangle"/>
          </a:ln>
        </p:spPr>
      </p:sp>
      <p:sp>
        <p:nvSpPr>
          <p:cNvPr id="10" name="arch_1"/>
          <p:cNvSpPr/>
          <p:nvPr/>
        </p:nvSpPr>
        <p:spPr>
          <a:xfrm>
            <a:off x="3383280" y="1783080"/>
            <a:ext cx="246888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1" name="arch_i1_circle"/>
          <p:cNvSpPr/>
          <p:nvPr/>
        </p:nvSpPr>
        <p:spPr>
          <a:xfrm>
            <a:off x="361188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rch_i1_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330" y="218313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8912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REST API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38912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JSON</a:t>
            </a:r>
            <a:endParaRPr lang="en-US" sz="1400" dirty="0"/>
          </a:p>
        </p:txBody>
      </p:sp>
      <p:sp>
        <p:nvSpPr>
          <p:cNvPr id="15" name="arch_arrow_1"/>
          <p:cNvSpPr/>
          <p:nvPr/>
        </p:nvSpPr>
        <p:spPr>
          <a:xfrm>
            <a:off x="5897880" y="2514600"/>
            <a:ext cx="274320" cy="0"/>
          </a:xfrm>
          <a:prstGeom prst="line">
            <a:avLst/>
          </a:prstGeom>
          <a:noFill/>
          <a:ln w="25400">
            <a:solidFill>
              <a:srgbClr val="7A726A"/>
            </a:solidFill>
            <a:prstDash val="solid"/>
            <a:tailEnd type="triangle"/>
          </a:ln>
        </p:spPr>
      </p:sp>
      <p:sp>
        <p:nvSpPr>
          <p:cNvPr id="16" name="arch_2"/>
          <p:cNvSpPr/>
          <p:nvPr/>
        </p:nvSpPr>
        <p:spPr>
          <a:xfrm>
            <a:off x="6217920" y="1783080"/>
            <a:ext cx="246888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7" name="arch_i2_circle"/>
          <p:cNvSpPr/>
          <p:nvPr/>
        </p:nvSpPr>
        <p:spPr>
          <a:xfrm>
            <a:off x="644652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rch_i2_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0" y="2183130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2376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Spring Boot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22376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Java</a:t>
            </a:r>
            <a:endParaRPr lang="en-US" sz="1400" dirty="0"/>
          </a:p>
        </p:txBody>
      </p:sp>
      <p:sp>
        <p:nvSpPr>
          <p:cNvPr id="21" name="arch_arrow_2"/>
          <p:cNvSpPr/>
          <p:nvPr/>
        </p:nvSpPr>
        <p:spPr>
          <a:xfrm>
            <a:off x="8732520" y="2514600"/>
            <a:ext cx="274320" cy="0"/>
          </a:xfrm>
          <a:prstGeom prst="line">
            <a:avLst/>
          </a:prstGeom>
          <a:noFill/>
          <a:ln w="25400">
            <a:solidFill>
              <a:srgbClr val="7A726A"/>
            </a:solidFill>
            <a:prstDash val="solid"/>
            <a:tailEnd type="triangle"/>
          </a:ln>
        </p:spPr>
      </p:sp>
      <p:sp>
        <p:nvSpPr>
          <p:cNvPr id="22" name="arch_3"/>
          <p:cNvSpPr/>
          <p:nvPr/>
        </p:nvSpPr>
        <p:spPr>
          <a:xfrm>
            <a:off x="9052560" y="1783080"/>
            <a:ext cx="246888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23" name="arch_i3_circle"/>
          <p:cNvSpPr/>
          <p:nvPr/>
        </p:nvSpPr>
        <p:spPr>
          <a:xfrm>
            <a:off x="928116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arch_i3_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183130"/>
            <a:ext cx="342900" cy="342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5840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H2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10058400" y="24231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Datenbank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MVP: zuerst die Must-Stories aus dem Product Backlog</a:t>
            </a:r>
            <a:endParaRPr lang="en-US" sz="1800" dirty="0"/>
          </a:p>
        </p:txBody>
      </p:sp>
      <p:sp>
        <p:nvSpPr>
          <p:cNvPr id="28" name="phase_0"/>
          <p:cNvSpPr/>
          <p:nvPr/>
        </p:nvSpPr>
        <p:spPr>
          <a:xfrm>
            <a:off x="548640" y="4160520"/>
            <a:ext cx="26060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9" name="phase_num_bg_0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137160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Basis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77724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Restaurant anmelden · Registrierung &amp; Login</a:t>
            </a:r>
            <a:endParaRPr lang="en-US" sz="1400" dirty="0"/>
          </a:p>
        </p:txBody>
      </p:sp>
      <p:sp>
        <p:nvSpPr>
          <p:cNvPr id="33" name="phase_1"/>
          <p:cNvSpPr/>
          <p:nvPr/>
        </p:nvSpPr>
        <p:spPr>
          <a:xfrm>
            <a:off x="3383280" y="4160520"/>
            <a:ext cx="26060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34" name="phase_num_bg_1"/>
          <p:cNvSpPr/>
          <p:nvPr/>
        </p:nvSpPr>
        <p:spPr>
          <a:xfrm>
            <a:off x="3611880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36118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6" name="Text 30"/>
          <p:cNvSpPr txBox="1"/>
          <p:nvPr/>
        </p:nvSpPr>
        <p:spPr>
          <a:xfrm>
            <a:off x="420624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Restaurant einrichten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361188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Plätze · Öffnungszeiten · Speisekarte · Verfügbarkeiten</a:t>
            </a:r>
            <a:endParaRPr lang="en-US" sz="1400" dirty="0"/>
          </a:p>
        </p:txBody>
      </p:sp>
      <p:sp>
        <p:nvSpPr>
          <p:cNvPr id="38" name="phase_2"/>
          <p:cNvSpPr/>
          <p:nvPr/>
        </p:nvSpPr>
        <p:spPr>
          <a:xfrm>
            <a:off x="6217920" y="4160520"/>
            <a:ext cx="2606040" cy="1874520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39" name="phase_num_bg_2"/>
          <p:cNvSpPr/>
          <p:nvPr/>
        </p:nvSpPr>
        <p:spPr>
          <a:xfrm>
            <a:off x="6446520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4465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704088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Gäste-Ablauf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644652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Reservieren · Vorbestellen · Im Voraus bezahlen</a:t>
            </a:r>
            <a:endParaRPr lang="en-US" sz="1400" dirty="0"/>
          </a:p>
        </p:txBody>
      </p:sp>
      <p:sp>
        <p:nvSpPr>
          <p:cNvPr id="43" name="phase_3"/>
          <p:cNvSpPr/>
          <p:nvPr/>
        </p:nvSpPr>
        <p:spPr>
          <a:xfrm>
            <a:off x="9052560" y="4160520"/>
            <a:ext cx="2606040" cy="1874520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44" name="phase_outline"/>
          <p:cNvSpPr/>
          <p:nvPr/>
        </p:nvSpPr>
        <p:spPr>
          <a:xfrm>
            <a:off x="9052560" y="4160520"/>
            <a:ext cx="2606040" cy="1874520"/>
          </a:xfrm>
          <a:prstGeom prst="roundRect">
            <a:avLst>
              <a:gd name="adj" fmla="val 7317"/>
            </a:avLst>
          </a:prstGeom>
          <a:ln w="19050">
            <a:solidFill>
              <a:srgbClr val="E8DED4"/>
            </a:solidFill>
            <a:prstDash val="dash"/>
          </a:ln>
        </p:spPr>
      </p:sp>
      <p:sp>
        <p:nvSpPr>
          <p:cNvPr id="45" name="phase_num_bg_3"/>
          <p:cNvSpPr/>
          <p:nvPr/>
        </p:nvSpPr>
        <p:spPr>
          <a:xfrm>
            <a:off x="9281160" y="43891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92811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7" name="Text 41"/>
          <p:cNvSpPr txBox="1"/>
          <p:nvPr/>
        </p:nvSpPr>
        <p:spPr>
          <a:xfrm>
            <a:off x="9875520" y="4389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Danach</a:t>
            </a:r>
            <a:endParaRPr lang="en-US" sz="1600" dirty="0"/>
          </a:p>
        </p:txBody>
      </p:sp>
      <p:sp>
        <p:nvSpPr>
          <p:cNvPr id="48" name="Text 42"/>
          <p:cNvSpPr txBox="1"/>
          <p:nvPr/>
        </p:nvSpPr>
        <p:spPr>
          <a:xfrm>
            <a:off x="928116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Stornieren · Bewerten · Abholung · Trinkgeld · Chat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2"/>
                </a:solidFill>
              </a:rPr>
              <a:t>REAP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Warten mehr –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weder für Gäste noch für Restaurants.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DE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Danke! Fragen?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A8F"/>
                </a:solidFill>
              </a:rPr>
              <a:t>Team 1: Wernig · Schieder · Ranninger</a:t>
            </a:r>
            <a:endParaRPr lang="en-US" sz="1400" dirty="0"/>
          </a:p>
        </p:txBody>
      </p:sp>
      <p:pic>
        <p:nvPicPr>
          <p:cNvPr id="6" name="phone_bestaetigung" descr="/home/claude/deck/img/r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822960"/>
            <a:ext cx="2439253" cy="521208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AP">
  <a:themeElements>
    <a:clrScheme name="REAP">
      <a:dk1>
        <a:srgbClr val="231F1B"/>
      </a:dk1>
      <a:lt1>
        <a:srgbClr val="FFFFFF"/>
      </a:lt1>
      <a:dk2>
        <a:srgbClr val="1C1714"/>
      </a:dk2>
      <a:lt2>
        <a:srgbClr val="F6F1EC"/>
      </a:lt2>
      <a:accent1>
        <a:srgbClr val="B3261E"/>
      </a:accent1>
      <a:accent2>
        <a:srgbClr val="E0A84A"/>
      </a:accent2>
      <a:accent3>
        <a:srgbClr val="2E7D5B"/>
      </a:accent3>
      <a:accent4>
        <a:srgbClr val="7A726A"/>
      </a:accent4>
      <a:accent5>
        <a:srgbClr val="E8DED4"/>
      </a:accent5>
      <a:accent6>
        <a:srgbClr val="5A4A42"/>
      </a:accent6>
      <a:hlink>
        <a:srgbClr val="B3261E"/>
      </a:hlink>
      <a:folHlink>
        <a:srgbClr val="7A726A"/>
      </a:folHlink>
    </a:clrScheme>
    <a:fontScheme name="REA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REAP – Produktidee</dc:title>
  <dc:subject>PptxGenJS Presentation</dc:subject>
  <dc:creator>Team 1: Wernig, Schieder, Ranninger</dc:creator>
  <cp:lastModifiedBy>Team 1: Wernig, Schieder, Ranninger</cp:lastModifiedBy>
  <cp:revision>1</cp:revision>
  <dcterms:created xsi:type="dcterms:W3CDTF">2026-10-07T11:56:23Z</dcterms:created>
  <dcterms:modified xsi:type="dcterms:W3CDTF">2026-10-07T11:56:23Z</dcterms:modified>
</cp:coreProperties>
</file>